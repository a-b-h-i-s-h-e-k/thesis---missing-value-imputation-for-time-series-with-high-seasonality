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82" r:id="rId12"/>
    <p:sldId id="268" r:id="rId13"/>
    <p:sldId id="269" r:id="rId14"/>
    <p:sldId id="272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  <p:sldId id="283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3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34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6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0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5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0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3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5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3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8225-1D0C-4AEE-AC08-C4C96F5DFDE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CD624-F069-45C4-BD7B-DCB02ED3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6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60FF-D495-5DB7-7862-B9C8727EA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0791"/>
            <a:ext cx="9144000" cy="2299171"/>
          </a:xfrm>
        </p:spPr>
        <p:txBody>
          <a:bodyPr>
            <a:normAutofit/>
          </a:bodyPr>
          <a:lstStyle/>
          <a:p>
            <a:r>
              <a:rPr lang="en-US" sz="3600" b="1" dirty="0"/>
              <a:t>Missing Value Imputation for </a:t>
            </a:r>
            <a:br>
              <a:rPr lang="en-US" sz="3600" b="1" dirty="0"/>
            </a:br>
            <a:r>
              <a:rPr lang="en-US" sz="3600" b="1" dirty="0"/>
              <a:t>Time Series with High Seasonality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87F3C-58C8-8359-1BF6-C8CC0B4D3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9736347" cy="2299171"/>
          </a:xfrm>
        </p:spPr>
        <p:txBody>
          <a:bodyPr>
            <a:normAutofit/>
          </a:bodyPr>
          <a:lstStyle/>
          <a:p>
            <a:pPr algn="r"/>
            <a:endParaRPr lang="en-US" sz="1500" b="1" dirty="0"/>
          </a:p>
          <a:p>
            <a:pPr algn="r"/>
            <a:endParaRPr lang="en-US" sz="1500" b="1" dirty="0"/>
          </a:p>
          <a:p>
            <a:pPr algn="r"/>
            <a:r>
              <a:rPr lang="en-US" sz="1500" b="1" dirty="0"/>
              <a:t>Abhishek Bargujar</a:t>
            </a:r>
          </a:p>
          <a:p>
            <a:pPr algn="r"/>
            <a:r>
              <a:rPr lang="en-US" sz="1500" b="1" dirty="0"/>
              <a:t>Supervisor:  Prof. Anton </a:t>
            </a:r>
            <a:r>
              <a:rPr lang="en-US" sz="1500" b="1" dirty="0" err="1"/>
              <a:t>Dignös</a:t>
            </a:r>
            <a:endParaRPr lang="en-US" sz="1500" b="1" dirty="0"/>
          </a:p>
          <a:p>
            <a:pPr algn="r"/>
            <a:r>
              <a:rPr lang="en-US" sz="1500" b="1" dirty="0"/>
              <a:t>Master in Computing for Data Science</a:t>
            </a:r>
          </a:p>
          <a:p>
            <a:pPr algn="r"/>
            <a:r>
              <a:rPr lang="en-US" sz="1500" b="1" dirty="0"/>
              <a:t>Free University of Bozen–Bolzano</a:t>
            </a:r>
          </a:p>
          <a:p>
            <a:pPr algn="r"/>
            <a:r>
              <a:rPr lang="en-US" sz="1500" b="1" dirty="0"/>
              <a:t>March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206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E7E8-392F-DBFA-3E6C-DF1BF0B7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876" y="3708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457A-79D1-394B-C058-7890F90A5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Time Series: A </a:t>
            </a:r>
            <a:r>
              <a:rPr lang="en-US" sz="1400" b="1" dirty="0"/>
              <a:t>sequence of data </a:t>
            </a:r>
            <a:r>
              <a:rPr lang="en-US" sz="1400" dirty="0"/>
              <a:t>points recorded over time at regular intervals.</a:t>
            </a:r>
          </a:p>
          <a:p>
            <a:r>
              <a:rPr lang="en-US" sz="1400" dirty="0"/>
              <a:t>High seasonality: </a:t>
            </a:r>
            <a:r>
              <a:rPr lang="en-US" sz="1400" b="1" dirty="0"/>
              <a:t>Strong repeating pattern</a:t>
            </a:r>
            <a:r>
              <a:rPr lang="en-US" sz="1400" dirty="0"/>
              <a:t> occurring at fixed time intervals.</a:t>
            </a:r>
          </a:p>
          <a:p>
            <a:r>
              <a:rPr lang="en-US" sz="1400" dirty="0"/>
              <a:t>Missing Value: Unrecorded Data Points.</a:t>
            </a:r>
          </a:p>
          <a:p>
            <a:r>
              <a:rPr lang="en-US" sz="1400" dirty="0"/>
              <a:t>Missing Value Imputation: Missing Data Estimation.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B7B65E0D-4816-F15F-AA25-5F62A688D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50" y="3745338"/>
            <a:ext cx="4560637" cy="1812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A5D90E-CADE-909E-29B4-078A15AE5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044" y="3701194"/>
            <a:ext cx="4941015" cy="196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5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2AEB-4E3F-B367-4AD1-3B9699C9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77BB4-0264-3FC1-6E19-A4CF14B80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300" b="1" dirty="0"/>
              <a:t>Surveyed 56 algorithms </a:t>
            </a:r>
            <a:r>
              <a:rPr lang="en-US" sz="1300" dirty="0"/>
              <a:t>to identify methods suitable for seasonal and phase-shifted data</a:t>
            </a:r>
          </a:p>
          <a:p>
            <a:r>
              <a:rPr lang="en-US" altLang="en-US" sz="1300" dirty="0"/>
              <a:t>Construct </a:t>
            </a:r>
            <a:r>
              <a:rPr lang="en-US" altLang="en-US" sz="1300" b="1" dirty="0"/>
              <a:t>a seasonality-aware benchmark </a:t>
            </a:r>
            <a:r>
              <a:rPr lang="en-US" altLang="en-US" sz="1300" dirty="0"/>
              <a:t>for time-series imputation</a:t>
            </a:r>
            <a:endParaRPr lang="en-US" sz="1300" dirty="0"/>
          </a:p>
          <a:p>
            <a:r>
              <a:rPr lang="en-US" altLang="en-US" sz="1300" dirty="0"/>
              <a:t>Extend the </a:t>
            </a:r>
            <a:r>
              <a:rPr lang="en-US" altLang="en-US" sz="1300" b="1" dirty="0"/>
              <a:t>TKCM framework </a:t>
            </a:r>
            <a:r>
              <a:rPr lang="en-US" altLang="en-US" sz="1300" dirty="0"/>
              <a:t>to better exploit seasonal and phase-shifted patterns</a:t>
            </a:r>
          </a:p>
          <a:p>
            <a:r>
              <a:rPr lang="en-US" altLang="en-US" sz="1300" dirty="0"/>
              <a:t>Analyze </a:t>
            </a:r>
            <a:r>
              <a:rPr lang="en-US" altLang="en-US" sz="1300" b="1" dirty="0"/>
              <a:t>performance</a:t>
            </a:r>
            <a:r>
              <a:rPr lang="en-US" altLang="en-US" sz="1300" dirty="0"/>
              <a:t> under different </a:t>
            </a:r>
            <a:r>
              <a:rPr lang="en-US" altLang="en-US" sz="1300" b="1" dirty="0"/>
              <a:t>missingness scenarios </a:t>
            </a:r>
            <a:r>
              <a:rPr lang="en-US" altLang="en-US" sz="1300" dirty="0"/>
              <a:t>(single vs block)</a:t>
            </a:r>
          </a:p>
          <a:p>
            <a:r>
              <a:rPr lang="en-US" altLang="en-US" sz="1300" dirty="0"/>
              <a:t>Identify when and why each method performs best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12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5CC4-ABC2-BF14-BF2A-BB3309D8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E29A8-00C9-AAA2-B8AD-806AC7E31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300" dirty="0"/>
              <a:t>Seasonal patterns repeat but are not always </a:t>
            </a:r>
            <a:r>
              <a:rPr lang="en-US" sz="1300" b="1" dirty="0"/>
              <a:t>perfectly aligned </a:t>
            </a:r>
            <a:r>
              <a:rPr lang="en-US" sz="1300" b="1" i="1" dirty="0"/>
              <a:t>(phase shifts)</a:t>
            </a:r>
          </a:p>
          <a:p>
            <a:r>
              <a:rPr lang="en-US" sz="1300" dirty="0"/>
              <a:t>Missing values may span entire seasonal segments known as </a:t>
            </a:r>
            <a:r>
              <a:rPr lang="en-US" sz="1300" b="1" dirty="0"/>
              <a:t>block missing value </a:t>
            </a:r>
            <a:r>
              <a:rPr lang="en-US" sz="1300" i="1" dirty="0"/>
              <a:t>(e.g., days or weeks)</a:t>
            </a:r>
            <a:endParaRPr lang="en-US" sz="1300" dirty="0"/>
          </a:p>
          <a:p>
            <a:r>
              <a:rPr lang="en-US" sz="1300" b="1" dirty="0"/>
              <a:t>Simple methods fail </a:t>
            </a:r>
            <a:r>
              <a:rPr lang="en-US" sz="1300" dirty="0"/>
              <a:t>to capture long-range temporal dependencies</a:t>
            </a:r>
          </a:p>
          <a:p>
            <a:r>
              <a:rPr lang="en-US" sz="1300" dirty="0"/>
              <a:t>High seasonality can mislead similarity-based methods, if patterns are only partially matched</a:t>
            </a:r>
          </a:p>
          <a:p>
            <a:r>
              <a:rPr lang="en-US" sz="1300" dirty="0"/>
              <a:t>Most of the missing value Imputation methods use similar </a:t>
            </a:r>
            <a:r>
              <a:rPr lang="en-US" sz="1300" b="1" dirty="0"/>
              <a:t>reference station (another time series) </a:t>
            </a:r>
            <a:r>
              <a:rPr lang="en-US" sz="1300" dirty="0"/>
              <a:t>for rebuilding the missing value</a:t>
            </a:r>
          </a:p>
          <a:p>
            <a:pPr marL="0" indent="0">
              <a:buNone/>
            </a:pP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88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9200-3F21-25F4-6ABF-CA76A6C3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Thesis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C875-C5AD-DC4C-4711-185B5C85C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300" b="1" dirty="0"/>
              <a:t>Methodological Contributions</a:t>
            </a:r>
          </a:p>
          <a:p>
            <a:pPr lvl="1"/>
            <a:r>
              <a:rPr lang="en-US" sz="1300" dirty="0"/>
              <a:t>Systematic survey of 56 imputation algorithms</a:t>
            </a:r>
          </a:p>
          <a:p>
            <a:pPr lvl="1"/>
            <a:r>
              <a:rPr lang="en-US" sz="1300" dirty="0"/>
              <a:t>Selection of 22 candidate methods </a:t>
            </a:r>
            <a:r>
              <a:rPr lang="en-US" sz="1300" i="1" dirty="0"/>
              <a:t>(matrix-based, pattern-based, statistical modeling(Model Based))</a:t>
            </a:r>
          </a:p>
          <a:p>
            <a:pPr lvl="1"/>
            <a:r>
              <a:rPr lang="en-US" sz="1300" dirty="0"/>
              <a:t>Identification of 7 algorithms suitable for seasonal and phase-shifted time series</a:t>
            </a:r>
          </a:p>
          <a:p>
            <a:pPr lvl="1"/>
            <a:r>
              <a:rPr lang="en-US" sz="1300" dirty="0"/>
              <a:t>Construction of a benchmark for comparative evaluation</a:t>
            </a:r>
            <a:endParaRPr lang="en-US" sz="1300" b="1" dirty="0"/>
          </a:p>
          <a:p>
            <a:r>
              <a:rPr lang="en-US" sz="1300" b="1" dirty="0"/>
              <a:t>Extensions of TKCM</a:t>
            </a:r>
          </a:p>
          <a:p>
            <a:pPr lvl="1"/>
            <a:r>
              <a:rPr lang="en-US" sz="1300" dirty="0"/>
              <a:t>Weighted TKCM </a:t>
            </a:r>
          </a:p>
          <a:p>
            <a:pPr lvl="1"/>
            <a:r>
              <a:rPr lang="en-US" sz="1300" dirty="0"/>
              <a:t>TKCM Plus </a:t>
            </a:r>
          </a:p>
          <a:p>
            <a:pPr lvl="1"/>
            <a:r>
              <a:rPr lang="en-US" sz="1300" dirty="0"/>
              <a:t>TKCM Pro </a:t>
            </a:r>
          </a:p>
          <a:p>
            <a:r>
              <a:rPr lang="en-US" sz="1300" b="1" dirty="0"/>
              <a:t>Experimental Evaluation</a:t>
            </a:r>
            <a:endParaRPr lang="en-US" sz="1300" dirty="0"/>
          </a:p>
          <a:p>
            <a:pPr lvl="1"/>
            <a:r>
              <a:rPr lang="en-US" sz="1300" dirty="0"/>
              <a:t>Evaluation on </a:t>
            </a:r>
            <a:r>
              <a:rPr lang="en-US" sz="1300" b="1" dirty="0"/>
              <a:t>South Tyrol Weather dataset </a:t>
            </a:r>
            <a:r>
              <a:rPr lang="en-US" sz="1300" dirty="0"/>
              <a:t>(Open Data Portal)</a:t>
            </a:r>
          </a:p>
          <a:p>
            <a:pPr lvl="1"/>
            <a:r>
              <a:rPr lang="en-US" sz="1300" b="1" dirty="0"/>
              <a:t>172 stations (valley, mountain, river-gauging), </a:t>
            </a:r>
            <a:r>
              <a:rPr lang="en-US" sz="1300" dirty="0"/>
              <a:t>3-9 sensors per station</a:t>
            </a:r>
          </a:p>
          <a:p>
            <a:pPr lvl="1"/>
            <a:r>
              <a:rPr lang="en-US" sz="1300" dirty="0"/>
              <a:t>12 sensor types (air temp, humidity, wind speed, water temp, solar radiation)</a:t>
            </a:r>
          </a:p>
          <a:p>
            <a:pPr lvl="1"/>
            <a:r>
              <a:rPr lang="en-US" sz="1300" b="1" dirty="0"/>
              <a:t>Time range </a:t>
            </a:r>
            <a:r>
              <a:rPr lang="en-US" sz="1300" dirty="0"/>
              <a:t>: 2023-01-01 to 2025-01-01, 30-minute granularity</a:t>
            </a:r>
          </a:p>
          <a:p>
            <a:pPr lvl="1"/>
            <a:r>
              <a:rPr lang="en-US" sz="1300" dirty="0"/>
              <a:t>Large-scale experiments on seasonal real-world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89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28FF-D93E-E282-605E-41FEF374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8779-22D9-FADC-0254-F1C9C3D18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Unified Python framework</a:t>
            </a:r>
            <a:endParaRPr lang="en-US" altLang="en-US" sz="1400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All algorithms (baseline, benchmark, and TKCM variants including extensions such as Weighted TKCM, TKCM PLUS, TKCM PRO) were reimplemented from scratch in Python to ensure fair comparison.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Common pipeline</a:t>
            </a:r>
            <a:endParaRPr lang="en-US" altLang="en-US" sz="1400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identical preprocessing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same missingness injection strategy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same evaluation metrics (MAE, RMSE)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TKCM-based implementation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 </a:t>
            </a:r>
            <a:r>
              <a:rPr lang="en-US" altLang="en-US" sz="1400" b="1" dirty="0"/>
              <a:t>sliding window matching </a:t>
            </a:r>
            <a:r>
              <a:rPr lang="en-US" altLang="en-US" sz="1400" dirty="0"/>
              <a:t>(parameter K -&gt; </a:t>
            </a:r>
            <a:r>
              <a:rPr lang="en-US" sz="1400" dirty="0"/>
              <a:t>nearest patterns)</a:t>
            </a:r>
            <a:endParaRPr lang="en-US" altLang="en-US" sz="1400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reference series selection </a:t>
            </a:r>
            <a:r>
              <a:rPr lang="en-US" altLang="en-US" sz="1400" dirty="0"/>
              <a:t>(parameter L -&gt; </a:t>
            </a:r>
            <a:r>
              <a:rPr lang="en-US" sz="1400" dirty="0"/>
              <a:t>pattern length/ reference selection)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configurable similarity and weighting schemes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Parameter tuning</a:t>
            </a:r>
            <a:endParaRPr lang="en-US" altLang="en-US" sz="1400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grid search over </a:t>
            </a:r>
            <a:r>
              <a:rPr lang="en-US" altLang="en-US" sz="1400" b="1" dirty="0"/>
              <a:t>k, l, α, β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1400" dirty="0"/>
              <a:t>α controls the influence of the known values of the target time series.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1400" dirty="0"/>
              <a:t>β controls the influence of the reference stations.</a:t>
            </a:r>
            <a:endParaRPr lang="en-US" altLang="en-US" sz="1400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tuning performed per dataset and missingness scenario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b="1" dirty="0"/>
              <a:t>Scalability</a:t>
            </a:r>
            <a:endParaRPr lang="en-US" altLang="en-US" sz="1400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implemented to handle large-scale seasonal time series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00" dirty="0"/>
              <a:t>supports single-point and long block missing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4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FCF7-34A6-C85B-B2E3-55380623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Related Work and Benchmark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750D-4C43-60EF-583D-75629F1B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300" b="1" dirty="0"/>
              <a:t>Existing studies </a:t>
            </a:r>
            <a:r>
              <a:rPr lang="en-US" sz="1300" dirty="0"/>
              <a:t>(e.g., </a:t>
            </a:r>
            <a:r>
              <a:rPr lang="en-US" sz="1300" dirty="0" err="1"/>
              <a:t>ImputeVIS</a:t>
            </a:r>
            <a:r>
              <a:rPr lang="en-US" sz="1300" dirty="0"/>
              <a:t>, Mind the Gap) show that </a:t>
            </a:r>
            <a:r>
              <a:rPr lang="en-US" sz="1300" b="1" dirty="0"/>
              <a:t>no single imputation method </a:t>
            </a:r>
            <a:r>
              <a:rPr lang="en-US" sz="1300" dirty="0"/>
              <a:t>performs best in all scenarios[1],[2]</a:t>
            </a:r>
          </a:p>
          <a:p>
            <a:pPr lvl="0"/>
            <a:r>
              <a:rPr lang="en-US" sz="1300" dirty="0"/>
              <a:t>Imputation performance strongly depends on [3][1]:</a:t>
            </a:r>
          </a:p>
          <a:p>
            <a:pPr lvl="1"/>
            <a:r>
              <a:rPr lang="en-US" sz="1300" dirty="0"/>
              <a:t>data characteristics</a:t>
            </a:r>
          </a:p>
          <a:p>
            <a:pPr lvl="1"/>
            <a:r>
              <a:rPr lang="en-US" sz="1300" dirty="0"/>
              <a:t>missingness type (single vs block)</a:t>
            </a:r>
          </a:p>
          <a:p>
            <a:r>
              <a:rPr lang="en-US" sz="1300" dirty="0"/>
              <a:t>Matrix-based and model-based methods[4] perform well for </a:t>
            </a:r>
            <a:r>
              <a:rPr lang="en-US" sz="1300" b="1" dirty="0"/>
              <a:t>large missing blocks</a:t>
            </a:r>
          </a:p>
          <a:p>
            <a:r>
              <a:rPr lang="en-US" sz="1300" dirty="0"/>
              <a:t>Pattern-based methods (e.g., TKCM) are effective for repetitive and seasonal patterns[4]</a:t>
            </a:r>
          </a:p>
          <a:p>
            <a:r>
              <a:rPr lang="en-US" sz="1300" b="1" dirty="0"/>
              <a:t>Benchmark Motivation</a:t>
            </a:r>
          </a:p>
          <a:p>
            <a:pPr lvl="1"/>
            <a:r>
              <a:rPr lang="en-US" sz="1300" dirty="0"/>
              <a:t>Most </a:t>
            </a:r>
            <a:r>
              <a:rPr lang="en-US" sz="1300" b="1" dirty="0"/>
              <a:t>existing benchmarks </a:t>
            </a:r>
            <a:r>
              <a:rPr lang="en-US" sz="1300" dirty="0"/>
              <a:t>do not </a:t>
            </a:r>
            <a:r>
              <a:rPr lang="en-US" sz="1300" b="1" dirty="0"/>
              <a:t>explicitly focus </a:t>
            </a:r>
            <a:r>
              <a:rPr lang="en-US" sz="1300" dirty="0"/>
              <a:t>on </a:t>
            </a:r>
            <a:r>
              <a:rPr lang="en-US" sz="1300" b="1" dirty="0"/>
              <a:t>highly seasonal data </a:t>
            </a:r>
            <a:r>
              <a:rPr lang="en-US" sz="1300" dirty="0"/>
              <a:t>with possible phase shifts, which are common in real-world sensor datasets.</a:t>
            </a:r>
          </a:p>
          <a:p>
            <a:pPr lvl="1"/>
            <a:r>
              <a:rPr lang="en-US" sz="1300" dirty="0"/>
              <a:t>This gap motivates the </a:t>
            </a:r>
            <a:r>
              <a:rPr lang="en-US" sz="1300" b="1" dirty="0"/>
              <a:t>construction of a seasonality-aware benchmark </a:t>
            </a:r>
            <a:r>
              <a:rPr lang="en-US" sz="1300" dirty="0"/>
              <a:t>to fairly compare different imputation methods and understand when each approach performs best.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900F25-316A-A481-A632-C781F8FB7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08791"/>
              </p:ext>
            </p:extLst>
          </p:nvPr>
        </p:nvGraphicFramePr>
        <p:xfrm>
          <a:off x="776377" y="4799034"/>
          <a:ext cx="9960634" cy="1377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0634">
                  <a:extLst>
                    <a:ext uri="{9D8B030D-6E8A-4147-A177-3AD203B41FA5}">
                      <a16:colId xmlns:a16="http://schemas.microsoft.com/office/drawing/2014/main" val="3505816745"/>
                    </a:ext>
                  </a:extLst>
                </a:gridCol>
              </a:tblGrid>
              <a:tr h="1377929">
                <a:tc>
                  <a:txBody>
                    <a:bodyPr/>
                    <a:lstStyle/>
                    <a:p>
                      <a:r>
                        <a:rPr lang="en-US" sz="1250" u="sng" dirty="0">
                          <a:solidFill>
                            <a:srgbClr val="FFFF00"/>
                          </a:solidFill>
                        </a:rPr>
                        <a:t>References</a:t>
                      </a:r>
                    </a:p>
                    <a:p>
                      <a:r>
                        <a:rPr lang="en-US" sz="1200" b="1" dirty="0"/>
                        <a:t>[1]</a:t>
                      </a:r>
                      <a:r>
                        <a:rPr lang="en-US" sz="1200" dirty="0"/>
                        <a:t> Khayati et al. (2020). </a:t>
                      </a:r>
                      <a:r>
                        <a:rPr lang="en-US" sz="1200" i="1" dirty="0"/>
                        <a:t>Mind the Gap: Experimental Evaluation of Missing Value Imputation in Time Series</a:t>
                      </a:r>
                      <a:r>
                        <a:rPr lang="en-US" sz="1200" dirty="0"/>
                        <a:t>. PVLDB, 13(5), 768–782.</a:t>
                      </a:r>
                    </a:p>
                    <a:p>
                      <a:r>
                        <a:rPr lang="en-US" sz="1200" b="1" dirty="0"/>
                        <a:t>[2]</a:t>
                      </a:r>
                      <a:r>
                        <a:rPr lang="en-US" sz="1200" dirty="0"/>
                        <a:t> Khayati et al. (2024). </a:t>
                      </a:r>
                      <a:r>
                        <a:rPr lang="en-US" sz="1200" i="1" dirty="0" err="1"/>
                        <a:t>ImputeVis</a:t>
                      </a:r>
                      <a:r>
                        <a:rPr lang="en-US" sz="1200" i="1" dirty="0"/>
                        <a:t>: Interactive Benchmarking of Time Series Imputation Techniques</a:t>
                      </a:r>
                      <a:r>
                        <a:rPr lang="en-US" sz="1200" dirty="0"/>
                        <a:t>. PVLDB, 17(12), 4329–4332.</a:t>
                      </a:r>
                    </a:p>
                    <a:p>
                      <a:r>
                        <a:rPr lang="en-US" sz="1200" b="1" dirty="0"/>
                        <a:t>[3]</a:t>
                      </a:r>
                      <a:r>
                        <a:rPr lang="en-US" sz="1200" dirty="0"/>
                        <a:t> Khayati &amp; </a:t>
                      </a:r>
                      <a:r>
                        <a:rPr lang="en-US" sz="1200" dirty="0" err="1"/>
                        <a:t>Böhlen</a:t>
                      </a:r>
                      <a:r>
                        <a:rPr lang="en-US" sz="1200" dirty="0"/>
                        <a:t> (2012). </a:t>
                      </a:r>
                      <a:r>
                        <a:rPr lang="en-US" sz="1200" i="1" dirty="0"/>
                        <a:t>REBOM: Recovery of Blocks of Missing Values in Time Series</a:t>
                      </a:r>
                      <a:r>
                        <a:rPr lang="en-US" sz="1200" dirty="0"/>
                        <a:t>. COMAD 2012.</a:t>
                      </a:r>
                    </a:p>
                    <a:p>
                      <a:r>
                        <a:rPr lang="en-US" sz="1200" b="1" dirty="0"/>
                        <a:t>[4]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Wellenzohn</a:t>
                      </a:r>
                      <a:r>
                        <a:rPr lang="en-US" sz="1200" dirty="0"/>
                        <a:t> et al. (2017). </a:t>
                      </a:r>
                      <a:r>
                        <a:rPr lang="en-US" sz="1200" i="1" dirty="0"/>
                        <a:t>Continuous Imputation of Missing Values in Pattern-Determining Time Series</a:t>
                      </a:r>
                      <a:r>
                        <a:rPr lang="en-US" sz="1200" dirty="0"/>
                        <a:t>. EDBT 2017.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65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83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8263-811D-C13E-4209-42207F92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Selected Imputation Methods for Seasonality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7953-C0BE-FF95-A863-3601621A7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b="1" u="sng" dirty="0"/>
              <a:t>Pattern-Based Methods </a:t>
            </a:r>
            <a:r>
              <a:rPr lang="en-US" sz="1400" dirty="0"/>
              <a:t>These methods reconstruct missing values by matching and reusing similar historical patterns in the data.</a:t>
            </a:r>
            <a:endParaRPr lang="en-US" sz="1400" b="1" u="sng" dirty="0"/>
          </a:p>
          <a:p>
            <a:pPr lvl="1"/>
            <a:r>
              <a:rPr lang="en-US" sz="1400" b="1" dirty="0"/>
              <a:t>TKCM </a:t>
            </a:r>
            <a:r>
              <a:rPr lang="en-US" sz="1400" dirty="0"/>
              <a:t>exploits repeating historical patterns for seasonal and phase-shifted data [4].</a:t>
            </a:r>
          </a:p>
          <a:p>
            <a:pPr lvl="1"/>
            <a:r>
              <a:rPr lang="en-US" sz="1400" b="1" dirty="0"/>
              <a:t>ST-MVL </a:t>
            </a:r>
            <a:r>
              <a:rPr lang="en-US" sz="1400" dirty="0"/>
              <a:t>leverages </a:t>
            </a:r>
            <a:r>
              <a:rPr lang="en-US" sz="1400" dirty="0" err="1"/>
              <a:t>spatio</a:t>
            </a:r>
            <a:r>
              <a:rPr lang="en-US" sz="1400" dirty="0"/>
              <a:t>-temporal similarity between nearby sensors [9].</a:t>
            </a:r>
            <a:endParaRPr lang="en-US" sz="1400" b="1" u="sng" dirty="0"/>
          </a:p>
          <a:p>
            <a:r>
              <a:rPr lang="en-US" sz="1400" b="1" u="sng" dirty="0"/>
              <a:t>Matrix-Based Methods </a:t>
            </a:r>
            <a:r>
              <a:rPr lang="en-US" sz="1400" dirty="0"/>
              <a:t>These methods treat the data as a matrix and recover missing values by exploiting low-rank global structure.</a:t>
            </a:r>
            <a:endParaRPr lang="en-US" sz="1400" b="1" u="sng" dirty="0"/>
          </a:p>
          <a:p>
            <a:pPr lvl="1"/>
            <a:r>
              <a:rPr lang="en-US" sz="1400" b="1" dirty="0"/>
              <a:t>CDRec </a:t>
            </a:r>
            <a:r>
              <a:rPr lang="en-US" sz="1400" dirty="0"/>
              <a:t>robust reconstruction of long missing blocks using centroid decomposition [3].</a:t>
            </a:r>
          </a:p>
          <a:p>
            <a:pPr lvl="1"/>
            <a:r>
              <a:rPr lang="en-US" sz="1400" b="1" dirty="0" err="1"/>
              <a:t>SoftImpute</a:t>
            </a:r>
            <a:r>
              <a:rPr lang="en-US" sz="1400" b="1" dirty="0"/>
              <a:t> </a:t>
            </a:r>
            <a:r>
              <a:rPr lang="en-US" sz="1400" dirty="0"/>
              <a:t>low-rank matrix completion with regularization [6].</a:t>
            </a:r>
          </a:p>
          <a:p>
            <a:pPr lvl="1"/>
            <a:r>
              <a:rPr lang="en-US" sz="1400" b="1" dirty="0" err="1"/>
              <a:t>SVDImpute</a:t>
            </a:r>
            <a:r>
              <a:rPr lang="en-US" sz="1400" b="1" dirty="0"/>
              <a:t>  </a:t>
            </a:r>
            <a:r>
              <a:rPr lang="en-US" sz="1400" dirty="0"/>
              <a:t>low-rank approximation via singular value decomposition [5].</a:t>
            </a:r>
          </a:p>
          <a:p>
            <a:pPr lvl="1"/>
            <a:r>
              <a:rPr lang="en-US" sz="1400" b="1" dirty="0"/>
              <a:t>TRMF</a:t>
            </a:r>
            <a:r>
              <a:rPr lang="en-US" sz="1400" dirty="0"/>
              <a:t> imputes missing values by combining low-rank matrix factorization with autoregressive temporal modeling to capture both global structure and time dependencies [7].</a:t>
            </a:r>
            <a:endParaRPr lang="en-US" sz="1400" b="1" u="sng" dirty="0"/>
          </a:p>
          <a:p>
            <a:r>
              <a:rPr lang="en-US" sz="1400" b="1" u="sng" dirty="0"/>
              <a:t>Model-Based Method </a:t>
            </a:r>
            <a:r>
              <a:rPr lang="en-US" sz="1400" dirty="0"/>
              <a:t>These methods estimate missing values by fitting a probabilistic or dynamical model to describe how the data evolves over time.</a:t>
            </a:r>
            <a:endParaRPr lang="en-US" sz="1400" b="1" u="sng" dirty="0"/>
          </a:p>
          <a:p>
            <a:pPr lvl="1"/>
            <a:r>
              <a:rPr lang="en-US" sz="1400" b="1" dirty="0" err="1"/>
              <a:t>DynaMMo</a:t>
            </a:r>
            <a:r>
              <a:rPr lang="en-US" sz="1400" b="1" dirty="0"/>
              <a:t> </a:t>
            </a:r>
            <a:r>
              <a:rPr lang="en-US" sz="1400" dirty="0"/>
              <a:t>dynamic matrix completion using Kalman filtering and Expectation–Maximization (EM) [8].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91F813-D50F-2758-EB68-F05D6518E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69914"/>
              </p:ext>
            </p:extLst>
          </p:nvPr>
        </p:nvGraphicFramePr>
        <p:xfrm>
          <a:off x="1616016" y="4945810"/>
          <a:ext cx="759699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6996">
                  <a:extLst>
                    <a:ext uri="{9D8B030D-6E8A-4147-A177-3AD203B41FA5}">
                      <a16:colId xmlns:a16="http://schemas.microsoft.com/office/drawing/2014/main" val="345914561"/>
                    </a:ext>
                  </a:extLst>
                </a:gridCol>
              </a:tblGrid>
              <a:tr h="1231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sng" dirty="0">
                          <a:solidFill>
                            <a:srgbClr val="FFFF00"/>
                          </a:solidFill>
                        </a:rPr>
                        <a:t>References</a:t>
                      </a:r>
                      <a:endParaRPr lang="en-US" sz="1200" b="1" dirty="0"/>
                    </a:p>
                    <a:p>
                      <a:r>
                        <a:rPr lang="en-US" sz="1200" b="1" dirty="0"/>
                        <a:t>[5] Cai et al. (2010). </a:t>
                      </a:r>
                      <a:r>
                        <a:rPr lang="en-US" sz="1200" b="1" i="1" dirty="0"/>
                        <a:t>A Singular Value Thresholding Algorithm for Matrix Completion.</a:t>
                      </a:r>
                      <a:r>
                        <a:rPr lang="en-US" sz="1200" b="1" dirty="0"/>
                        <a:t> SIAM J. </a:t>
                      </a:r>
                      <a:r>
                        <a:rPr lang="en-US" sz="1200" b="1" dirty="0" err="1"/>
                        <a:t>Optim</a:t>
                      </a:r>
                      <a:r>
                        <a:rPr lang="en-US" sz="1200" b="1" dirty="0"/>
                        <a:t>.</a:t>
                      </a:r>
                    </a:p>
                    <a:p>
                      <a:r>
                        <a:rPr lang="en-US" sz="1200" b="1" dirty="0"/>
                        <a:t>[6] Mazumder et al. (2010). </a:t>
                      </a:r>
                      <a:r>
                        <a:rPr lang="en-US" sz="1200" b="1" i="1" dirty="0"/>
                        <a:t>Spectral Regularization Algorithms for Learning Large Incomplete Matrices.</a:t>
                      </a:r>
                      <a:r>
                        <a:rPr lang="en-US" sz="1200" b="1" dirty="0"/>
                        <a:t> JMLR.</a:t>
                      </a:r>
                    </a:p>
                    <a:p>
                      <a:r>
                        <a:rPr lang="en-US" sz="1200" b="1" dirty="0"/>
                        <a:t>[7] Yu et al. (2016). </a:t>
                      </a:r>
                      <a:r>
                        <a:rPr lang="en-US" sz="1200" b="1" i="1" dirty="0"/>
                        <a:t>Temporal Regularized Matrix Factorization for High-Dimensional Time Series Prediction.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NeurIPS</a:t>
                      </a:r>
                      <a:r>
                        <a:rPr lang="en-US" sz="1200" b="1" dirty="0"/>
                        <a:t>.</a:t>
                      </a:r>
                    </a:p>
                    <a:p>
                      <a:r>
                        <a:rPr lang="en-US" sz="1200" b="1" dirty="0"/>
                        <a:t>[8] Li et al. (2009). </a:t>
                      </a:r>
                      <a:r>
                        <a:rPr lang="en-US" sz="1200" b="1" i="1" dirty="0" err="1"/>
                        <a:t>DynaMMo</a:t>
                      </a:r>
                      <a:r>
                        <a:rPr lang="en-US" sz="1200" b="1" i="1" dirty="0"/>
                        <a:t>: Mining and Summarization of Coevolving Sequences with Missing Values.</a:t>
                      </a:r>
                      <a:r>
                        <a:rPr lang="en-US" sz="1200" b="1" dirty="0"/>
                        <a:t> KDD.</a:t>
                      </a:r>
                    </a:p>
                    <a:p>
                      <a:r>
                        <a:rPr lang="en-US" sz="1200" b="1" dirty="0"/>
                        <a:t>[9] Yi et al. (2016). </a:t>
                      </a:r>
                      <a:r>
                        <a:rPr lang="en-US" sz="1200" b="1" i="1" dirty="0"/>
                        <a:t>ST-MVL: Filling Missing Values in Geo-Sensory Time Series Data.</a:t>
                      </a:r>
                      <a:r>
                        <a:rPr lang="en-US" sz="1200" b="1" dirty="0"/>
                        <a:t> IJCAI.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78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44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F25C-514E-9754-F72F-0E73CB4B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Extensions of TKCM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9197-4F1B-B1FA-E3B4-87358CDEB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/>
              <a:t>Motivation</a:t>
            </a:r>
          </a:p>
          <a:p>
            <a:pPr lvl="1"/>
            <a:r>
              <a:rPr lang="en-US" sz="1400" dirty="0"/>
              <a:t>Improve robustness under phase shifts and complex seasonal patterns</a:t>
            </a:r>
          </a:p>
          <a:p>
            <a:pPr lvl="1"/>
            <a:r>
              <a:rPr lang="en-US" sz="1400" dirty="0"/>
              <a:t>Better exploit multiple reference stations</a:t>
            </a:r>
          </a:p>
          <a:p>
            <a:pPr lvl="1"/>
            <a:r>
              <a:rPr lang="en-US" sz="1400" dirty="0"/>
              <a:t>Reduce sensitivity to pattern selection</a:t>
            </a:r>
          </a:p>
          <a:p>
            <a:pPr marL="457200" lvl="1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1. Weighted TKCM</a:t>
            </a:r>
          </a:p>
          <a:p>
            <a:pPr lvl="1"/>
            <a:r>
              <a:rPr lang="en-US" sz="1400" dirty="0"/>
              <a:t>Assigns higher weights to reference patterns that are more similar to the missing segment</a:t>
            </a:r>
          </a:p>
          <a:p>
            <a:pPr lvl="1"/>
            <a:r>
              <a:rPr lang="en-US" sz="1400" dirty="0"/>
              <a:t>Reduces influence of weakly matching anchors</a:t>
            </a:r>
          </a:p>
          <a:p>
            <a:pPr lvl="1"/>
            <a:r>
              <a:rPr lang="en-US" sz="1400" dirty="0"/>
              <a:t>Improves stability in seasonal and noisy environments</a:t>
            </a:r>
          </a:p>
          <a:p>
            <a:pPr marL="457200" lvl="1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 2. TKCM PLUS </a:t>
            </a:r>
          </a:p>
          <a:p>
            <a:pPr lvl="1"/>
            <a:r>
              <a:rPr lang="en-US" sz="1400" dirty="0"/>
              <a:t>Combines information from: Reference series and Known values of the target series</a:t>
            </a:r>
          </a:p>
          <a:p>
            <a:pPr lvl="1"/>
            <a:r>
              <a:rPr lang="en-US" sz="1400" dirty="0"/>
              <a:t>Introduces tunable parameters (α, β)</a:t>
            </a:r>
          </a:p>
          <a:p>
            <a:pPr lvl="1"/>
            <a:r>
              <a:rPr lang="en-US" sz="1400" dirty="0"/>
              <a:t>Allows flexible balance between external and internal information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3. TKCM PRO</a:t>
            </a:r>
          </a:p>
          <a:p>
            <a:pPr lvl="1"/>
            <a:r>
              <a:rPr lang="en-US" sz="1400" dirty="0"/>
              <a:t>Aggregates all reference series jointly</a:t>
            </a:r>
          </a:p>
          <a:p>
            <a:pPr lvl="1"/>
            <a:r>
              <a:rPr lang="en-US" sz="1400" dirty="0"/>
              <a:t>Uses global averaging instead of independent matching (only same signals)</a:t>
            </a:r>
          </a:p>
          <a:p>
            <a:pPr lvl="1"/>
            <a:r>
              <a:rPr lang="en-US" sz="1400" dirty="0"/>
              <a:t>Reduces variance in high-variability settings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62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5094-6121-A08F-CAF8-C35924F3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4686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353161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9D45-5BD8-CA2E-77A3-65AFB391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073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+mn-lt"/>
              </a:rPr>
              <a:t>Missingness</a:t>
            </a:r>
          </a:p>
        </p:txBody>
      </p:sp>
    </p:spTree>
    <p:extLst>
      <p:ext uri="{BB962C8B-B14F-4D97-AF65-F5344CB8AC3E}">
        <p14:creationId xmlns:p14="http://schemas.microsoft.com/office/powerpoint/2010/main" val="2583350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C5C7-D20E-571A-BF28-F83DB78C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Single Point Missing Values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904597D-C939-BFEB-DC27-AAB3A33CB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31" y="2982200"/>
            <a:ext cx="5703044" cy="2248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6B38C-4E09-E73A-8C2E-055DC1031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875" y="2982199"/>
            <a:ext cx="5693491" cy="224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81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956A-FC34-BE17-E153-CAB75616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dirty="0">
                <a:latin typeface="+mn-lt"/>
              </a:rPr>
              <a:t>Block Missing Values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A567A6-8FF7-19A4-360F-FBAE58EA0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5" y="2150417"/>
            <a:ext cx="5509714" cy="217268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00A93-24D7-4276-24F0-0FEDBA0A3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b="36392"/>
          <a:stretch>
            <a:fillRect/>
          </a:stretch>
        </p:blipFill>
        <p:spPr>
          <a:xfrm>
            <a:off x="6142007" y="2150417"/>
            <a:ext cx="5608533" cy="217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EDB8-0631-850E-A3BF-AFF31FFD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Experimental Setup – Target &amp; Reference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B04A0-C201-E7D8-467D-027B68A54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300" dirty="0"/>
              <a:t>All approaches use reference stations for the imputation.</a:t>
            </a:r>
          </a:p>
          <a:p>
            <a:r>
              <a:rPr lang="en-US" sz="1300" dirty="0"/>
              <a:t>Dataset: Valley stations – South Tyrol weather data</a:t>
            </a:r>
          </a:p>
          <a:p>
            <a:r>
              <a:rPr lang="en-US" sz="1300" dirty="0"/>
              <a:t>Target station: 02500MS (Atmospheric Pressure – LF)</a:t>
            </a:r>
          </a:p>
          <a:p>
            <a:r>
              <a:rPr lang="en-US" sz="1300" dirty="0"/>
              <a:t>Reference selection: Top 3 stations selected using Pearson correlation</a:t>
            </a:r>
          </a:p>
          <a:p>
            <a:r>
              <a:rPr lang="en-US" sz="1300" dirty="0"/>
              <a:t>Same target &amp; references used across all valley experiments and same approach was used for mountain, river-gauging datasets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0AD4A8D-C440-684F-3C8C-637686F10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89" y="3622462"/>
            <a:ext cx="6981645" cy="241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16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D738-DF8B-4442-DEE6-8C616190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Settings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288B2-A1E0-03CC-42D2-C303083BF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Sensors analyzed</a:t>
            </a:r>
          </a:p>
          <a:p>
            <a:pPr lvl="1"/>
            <a:r>
              <a:rPr lang="en-US" sz="1400" dirty="0"/>
              <a:t>Air Temperature</a:t>
            </a:r>
          </a:p>
          <a:p>
            <a:pPr lvl="1"/>
            <a:r>
              <a:rPr lang="en-US" sz="1400" dirty="0"/>
              <a:t>Humidity</a:t>
            </a:r>
          </a:p>
          <a:p>
            <a:pPr lvl="1"/>
            <a:r>
              <a:rPr lang="en-US" sz="1400" dirty="0"/>
              <a:t>Water Temperature</a:t>
            </a:r>
            <a:endParaRPr lang="en-US" sz="1400" b="1" dirty="0"/>
          </a:p>
          <a:p>
            <a:r>
              <a:rPr lang="en-US" sz="1400" b="1" dirty="0"/>
              <a:t>Reference Selection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Pearson Correlation</a:t>
            </a:r>
          </a:p>
          <a:p>
            <a:pPr lvl="1"/>
            <a:r>
              <a:rPr lang="en-US" sz="1400" dirty="0"/>
              <a:t>Euclidean distance</a:t>
            </a:r>
          </a:p>
          <a:p>
            <a:r>
              <a:rPr lang="en-US" sz="1400" b="1" dirty="0"/>
              <a:t>Parameter Tuning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grid search over window size (</a:t>
            </a:r>
            <a:r>
              <a:rPr lang="en-US" sz="1400" b="1" dirty="0"/>
              <a:t>k -&gt; </a:t>
            </a:r>
            <a:r>
              <a:rPr lang="en-US" sz="1400" dirty="0"/>
              <a:t>nearest patterns and Historical Patterns)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number of anchors (</a:t>
            </a:r>
            <a:r>
              <a:rPr lang="en-US" sz="1400" b="1" dirty="0"/>
              <a:t>l -&gt; </a:t>
            </a:r>
            <a:r>
              <a:rPr lang="en-US" sz="1400" dirty="0"/>
              <a:t>pattern length, reference selection)</a:t>
            </a:r>
          </a:p>
          <a:p>
            <a:r>
              <a:rPr lang="en-US" sz="1400" b="1" dirty="0"/>
              <a:t>Evaluation Metrics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RMSE(Root Mean Square Error)	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MAE(Mean Absolute Error)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24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94E4-3918-B146-3CEC-BB66F3CF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897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+mn-lt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67704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9A48-4462-AAEF-FA42-30ABF608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Single Missing Value Analysis (End vs Middle)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0969-000D-7075-2081-A8171870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300" b="1" dirty="0"/>
              <a:t>Setting: </a:t>
            </a:r>
            <a:r>
              <a:rPr lang="en-US" sz="1300" dirty="0"/>
              <a:t>Single missing value at the end and middle of the time series</a:t>
            </a:r>
          </a:p>
          <a:p>
            <a:r>
              <a:rPr lang="en-US" sz="1300" b="1" dirty="0"/>
              <a:t> Valley Stations (High Seasonality)</a:t>
            </a:r>
          </a:p>
          <a:p>
            <a:pPr lvl="1"/>
            <a:r>
              <a:rPr lang="en-US" sz="1300" dirty="0"/>
              <a:t>TKCM &amp; Weighted TKCM achieve the lowest MAE and RMSE</a:t>
            </a:r>
          </a:p>
          <a:p>
            <a:pPr lvl="1"/>
            <a:r>
              <a:rPr lang="en-US" sz="1300" dirty="0"/>
              <a:t>Pattern-based methods benefit from strong seasonality</a:t>
            </a:r>
          </a:p>
          <a:p>
            <a:pPr lvl="1"/>
            <a:r>
              <a:rPr lang="en-US" sz="1300" dirty="0"/>
              <a:t>Baseline methods (Min, Zero) fail due to phase shifts</a:t>
            </a:r>
          </a:p>
          <a:p>
            <a:r>
              <a:rPr lang="en-US" sz="1300" b="1" dirty="0"/>
              <a:t>Mountain Stations (Higher Variability)</a:t>
            </a:r>
          </a:p>
          <a:p>
            <a:pPr lvl="1"/>
            <a:r>
              <a:rPr lang="en-US" sz="1300" dirty="0"/>
              <a:t>Matrix- and model-based methods dominate</a:t>
            </a:r>
          </a:p>
          <a:p>
            <a:pPr lvl="2"/>
            <a:r>
              <a:rPr lang="en-US" sz="1300" dirty="0"/>
              <a:t> </a:t>
            </a:r>
            <a:r>
              <a:rPr lang="en-US" sz="1300" dirty="0" err="1"/>
              <a:t>SoftImpute</a:t>
            </a:r>
            <a:r>
              <a:rPr lang="en-US" sz="1300" dirty="0"/>
              <a:t>, </a:t>
            </a:r>
            <a:r>
              <a:rPr lang="en-US" sz="1300" dirty="0" err="1"/>
              <a:t>SVDImpute</a:t>
            </a:r>
            <a:r>
              <a:rPr lang="en-US" sz="1300" dirty="0"/>
              <a:t>, </a:t>
            </a:r>
            <a:r>
              <a:rPr lang="en-US" sz="1300" dirty="0" err="1"/>
              <a:t>DynaMMo</a:t>
            </a:r>
            <a:endParaRPr lang="en-US" sz="1300" dirty="0"/>
          </a:p>
          <a:p>
            <a:pPr lvl="1"/>
            <a:r>
              <a:rPr lang="en-US" sz="1300" dirty="0"/>
              <a:t>TKCM variants remain competitive</a:t>
            </a:r>
          </a:p>
          <a:p>
            <a:r>
              <a:rPr lang="en-US" sz="1300" b="1" dirty="0"/>
              <a:t>Gauging Stations (Strong Local Continuity)</a:t>
            </a:r>
          </a:p>
          <a:p>
            <a:pPr lvl="1"/>
            <a:r>
              <a:rPr lang="en-US" sz="1300" dirty="0"/>
              <a:t> Interpolation and matrix-based methods perform best</a:t>
            </a:r>
          </a:p>
          <a:p>
            <a:pPr lvl="1"/>
            <a:r>
              <a:rPr lang="en-US" sz="1300" dirty="0"/>
              <a:t>Simpler structure favors smooth reconstruction</a:t>
            </a:r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ADD3D08-0ACD-3D0E-65C4-8E3244438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768" y="1726866"/>
            <a:ext cx="5009545" cy="2457911"/>
          </a:xfrm>
          <a:prstGeom prst="rect">
            <a:avLst/>
          </a:prstGeom>
        </p:spPr>
      </p:pic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1828E2B5-A050-ADC9-C7AD-449C5B8D2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7" r="2994"/>
          <a:stretch>
            <a:fillRect/>
          </a:stretch>
        </p:blipFill>
        <p:spPr>
          <a:xfrm>
            <a:off x="6393644" y="4283535"/>
            <a:ext cx="4879550" cy="247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6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1E3F-8328-2A6D-68E6-837BAB03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Global Single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1FF92-1C42-9D49-93E5-BED86030B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300" b="1" dirty="0"/>
              <a:t>Setting:</a:t>
            </a:r>
            <a:r>
              <a:rPr lang="en-US" sz="1300" dirty="0"/>
              <a:t>  Single missing values distributed globally</a:t>
            </a:r>
          </a:p>
          <a:p>
            <a:r>
              <a:rPr lang="en-US" sz="1300" b="1" dirty="0"/>
              <a:t>Valley Stations (High Seasonality)</a:t>
            </a:r>
          </a:p>
          <a:p>
            <a:pPr lvl="1"/>
            <a:r>
              <a:rPr lang="en-US" sz="1300" dirty="0"/>
              <a:t>CDRec, </a:t>
            </a:r>
            <a:r>
              <a:rPr lang="en-US" sz="1300" dirty="0" err="1"/>
              <a:t>DynaMMo</a:t>
            </a:r>
            <a:r>
              <a:rPr lang="en-US" sz="1300" dirty="0"/>
              <a:t>, </a:t>
            </a:r>
            <a:r>
              <a:rPr lang="en-US" sz="1300" dirty="0" err="1"/>
              <a:t>SoftImpute</a:t>
            </a:r>
            <a:r>
              <a:rPr lang="en-US" sz="1300" dirty="0"/>
              <a:t>, and </a:t>
            </a:r>
            <a:r>
              <a:rPr lang="en-US" sz="1300" dirty="0" err="1"/>
              <a:t>SVDImpute</a:t>
            </a:r>
            <a:r>
              <a:rPr lang="en-US" sz="1300" dirty="0"/>
              <a:t> achieve the best performance</a:t>
            </a:r>
          </a:p>
          <a:p>
            <a:pPr lvl="1"/>
            <a:r>
              <a:rPr lang="en-US" sz="1300" dirty="0"/>
              <a:t>TKCM variants are slightly worse but remain competitive</a:t>
            </a:r>
          </a:p>
          <a:p>
            <a:r>
              <a:rPr lang="en-US" sz="1300" b="1" dirty="0"/>
              <a:t>Mountain &amp; Gauging Stations (Higher Variability, Strong Local Continuity)</a:t>
            </a:r>
          </a:p>
          <a:p>
            <a:pPr lvl="1"/>
            <a:r>
              <a:rPr lang="en-US" sz="1300" dirty="0" err="1"/>
              <a:t>SoftImpute</a:t>
            </a:r>
            <a:r>
              <a:rPr lang="en-US" sz="1300" dirty="0"/>
              <a:t>, </a:t>
            </a:r>
            <a:r>
              <a:rPr lang="en-US" sz="1300" dirty="0" err="1"/>
              <a:t>DynaMMo</a:t>
            </a:r>
            <a:r>
              <a:rPr lang="en-US" sz="1300" dirty="0"/>
              <a:t>, and CDRec  consistently achieve the best performance</a:t>
            </a:r>
          </a:p>
          <a:p>
            <a:pPr lvl="1"/>
            <a:r>
              <a:rPr lang="en-US" sz="1300" dirty="0"/>
              <a:t>Performance is driven by higher variability and smoother temporal structure</a:t>
            </a:r>
          </a:p>
          <a:p>
            <a:r>
              <a:rPr lang="en-US" sz="1300" b="1" dirty="0"/>
              <a:t>Baseline Methods</a:t>
            </a:r>
          </a:p>
          <a:p>
            <a:pPr lvl="1"/>
            <a:r>
              <a:rPr lang="en-US" sz="1300" dirty="0"/>
              <a:t>Extremely poor performance across all datasets</a:t>
            </a:r>
          </a:p>
          <a:p>
            <a:pPr lvl="1"/>
            <a:r>
              <a:rPr lang="en-US" sz="1300" dirty="0"/>
              <a:t>Unsuitable for seasonal and phase-shifted time series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A7BA4-1DFB-0420-6873-22423FBA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488" y="1742536"/>
            <a:ext cx="4621474" cy="29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78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C73E-7593-500B-9B37-33361CF8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Block Missing (End)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988C-ED28-CAF2-FD36-522C53B8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300" b="1" dirty="0"/>
              <a:t>Setting: </a:t>
            </a:r>
            <a:r>
              <a:rPr lang="en-US" sz="1300" dirty="0"/>
              <a:t>Continuous missing block at the end of the time series</a:t>
            </a:r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Valley &amp; Mountain Stations (High Seasonality, Higher Variability)</a:t>
            </a:r>
            <a:br>
              <a:rPr lang="en-US" sz="1300" dirty="0"/>
            </a:br>
            <a:r>
              <a:rPr lang="en-US" sz="1300" dirty="0"/>
              <a:t>	1. CDRec, </a:t>
            </a:r>
            <a:r>
              <a:rPr lang="en-US" sz="1300" dirty="0" err="1"/>
              <a:t>DynaMMo</a:t>
            </a:r>
            <a:r>
              <a:rPr lang="en-US" sz="1300" dirty="0"/>
              <a:t>, </a:t>
            </a:r>
            <a:r>
              <a:rPr lang="en-US" sz="1300" dirty="0" err="1"/>
              <a:t>SoftImpute</a:t>
            </a:r>
            <a:r>
              <a:rPr lang="en-US" sz="1300" dirty="0"/>
              <a:t>, </a:t>
            </a:r>
            <a:r>
              <a:rPr lang="en-US" sz="1300" dirty="0" err="1"/>
              <a:t>SVDImpute</a:t>
            </a:r>
            <a:r>
              <a:rPr lang="en-US" sz="1300" dirty="0"/>
              <a:t> achieve the lowest errors</a:t>
            </a:r>
            <a:br>
              <a:rPr lang="en-US" sz="1300" dirty="0"/>
            </a:br>
            <a:r>
              <a:rPr lang="en-US" sz="1300" dirty="0"/>
              <a:t>	2. Matrix- and model-based methods handle long missing blocks more robustly</a:t>
            </a:r>
            <a:br>
              <a:rPr lang="en-US" sz="1300" dirty="0"/>
            </a:br>
            <a:r>
              <a:rPr lang="en-US" sz="1300" dirty="0"/>
              <a:t>	3. TKCM variants struggle when sufficient historical anchors are unavailable</a:t>
            </a:r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Gauging Stations (Strong Local Continuity)</a:t>
            </a:r>
            <a:br>
              <a:rPr lang="en-US" sz="1300" dirty="0"/>
            </a:br>
            <a:r>
              <a:rPr lang="en-US" sz="1300" dirty="0"/>
              <a:t>	1. Linear interpolation achieves the lowest error</a:t>
            </a:r>
            <a:br>
              <a:rPr lang="en-US" sz="1300" dirty="0"/>
            </a:br>
            <a:r>
              <a:rPr lang="en-US" sz="1300" dirty="0"/>
              <a:t>	2. Strong local temporal continuity favors simple methods</a:t>
            </a:r>
            <a:br>
              <a:rPr lang="en-US" sz="1300" dirty="0"/>
            </a:br>
            <a:r>
              <a:rPr lang="en-US" sz="1300" dirty="0"/>
              <a:t>	3. Matrix-based methods follow closely</a:t>
            </a:r>
            <a:br>
              <a:rPr lang="en-US" sz="1300" dirty="0"/>
            </a:br>
            <a:r>
              <a:rPr lang="en-US" sz="1300" dirty="0"/>
              <a:t>	4.TKCM and Weighted TKCM perform worst in this setting</a:t>
            </a:r>
            <a:br>
              <a:rPr lang="en-US" sz="1400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3C8CE-766C-5588-C985-4195EC6D1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999" y="1825625"/>
            <a:ext cx="4747205" cy="302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88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C36F-B5B6-8C75-DEDB-0B238868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Block Missing (Middle)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3F1C7-4C65-BCB8-6C59-B600471C0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300" b="1" dirty="0"/>
              <a:t>Setting</a:t>
            </a:r>
            <a:r>
              <a:rPr lang="en-US" sz="1300" dirty="0"/>
              <a:t>: Continuous missing block in the middle of the time series</a:t>
            </a:r>
          </a:p>
          <a:p>
            <a:r>
              <a:rPr lang="en-US" sz="1300" b="1" dirty="0"/>
              <a:t>Valley Stations (High Seasonality)</a:t>
            </a:r>
          </a:p>
          <a:p>
            <a:pPr lvl="1"/>
            <a:r>
              <a:rPr lang="en-US" sz="1300" dirty="0" err="1"/>
              <a:t>SoftImpute</a:t>
            </a:r>
            <a:r>
              <a:rPr lang="en-US" sz="1300" dirty="0"/>
              <a:t> achieves the lowest MAE and RMSE</a:t>
            </a:r>
          </a:p>
          <a:p>
            <a:pPr lvl="1"/>
            <a:r>
              <a:rPr lang="en-US" sz="1300" dirty="0"/>
              <a:t>CDRec and </a:t>
            </a:r>
            <a:r>
              <a:rPr lang="en-US" sz="1300" dirty="0" err="1"/>
              <a:t>SVDImpute</a:t>
            </a:r>
            <a:r>
              <a:rPr lang="en-US" sz="1300" dirty="0"/>
              <a:t> closely follow</a:t>
            </a:r>
          </a:p>
          <a:p>
            <a:pPr lvl="1"/>
            <a:r>
              <a:rPr lang="en-US" sz="1300" dirty="0"/>
              <a:t>TKCM &amp; Weighted TKCM perform well but require tuning</a:t>
            </a:r>
          </a:p>
          <a:p>
            <a:pPr lvl="1"/>
            <a:r>
              <a:rPr lang="en-US" sz="1300" dirty="0"/>
              <a:t>TKCM Plus, TKCM Pro, TRMF perform poorly without sufficient </a:t>
            </a:r>
          </a:p>
          <a:p>
            <a:pPr marL="457200" lvl="1" indent="0">
              <a:buNone/>
            </a:pPr>
            <a:r>
              <a:rPr lang="en-US" sz="1300" dirty="0"/>
              <a:t>anchors</a:t>
            </a:r>
          </a:p>
          <a:p>
            <a:r>
              <a:rPr lang="en-US" sz="1300" b="1" dirty="0"/>
              <a:t>Mountain Stations (Higher Variability)</a:t>
            </a:r>
          </a:p>
          <a:p>
            <a:pPr lvl="1"/>
            <a:r>
              <a:rPr lang="en-US" sz="1300" dirty="0" err="1"/>
              <a:t>DynaMMo</a:t>
            </a:r>
            <a:r>
              <a:rPr lang="en-US" sz="1300" dirty="0"/>
              <a:t>, </a:t>
            </a:r>
            <a:r>
              <a:rPr lang="en-US" sz="1300" dirty="0" err="1"/>
              <a:t>SoftImpute</a:t>
            </a:r>
            <a:r>
              <a:rPr lang="en-US" sz="1300" dirty="0"/>
              <a:t>, </a:t>
            </a:r>
            <a:r>
              <a:rPr lang="en-US" sz="1300" dirty="0" err="1"/>
              <a:t>SVDImpute</a:t>
            </a:r>
            <a:r>
              <a:rPr lang="en-US" sz="1300" dirty="0"/>
              <a:t> are strongest</a:t>
            </a:r>
          </a:p>
          <a:p>
            <a:pPr lvl="1"/>
            <a:r>
              <a:rPr lang="en-US" sz="1300" dirty="0"/>
              <a:t>Matrix- and model-based methods handle variability better</a:t>
            </a:r>
          </a:p>
          <a:p>
            <a:pPr lvl="1"/>
            <a:r>
              <a:rPr lang="en-US" sz="1300" dirty="0"/>
              <a:t>TKCM variants are less robust in mid-block gaps</a:t>
            </a:r>
          </a:p>
          <a:p>
            <a:r>
              <a:rPr lang="en-US" sz="1300" b="1" dirty="0"/>
              <a:t>Gauging Stations (Strong Local Continuity)</a:t>
            </a:r>
            <a:endParaRPr lang="en-US" sz="1300" dirty="0"/>
          </a:p>
          <a:p>
            <a:pPr lvl="1"/>
            <a:r>
              <a:rPr lang="en-US" sz="1300" dirty="0"/>
              <a:t>Performance degrades for most methods due to:</a:t>
            </a:r>
          </a:p>
          <a:p>
            <a:pPr lvl="1"/>
            <a:r>
              <a:rPr lang="en-US" sz="1300" dirty="0"/>
              <a:t>missing values in both target and reference stations</a:t>
            </a:r>
          </a:p>
          <a:p>
            <a:pPr lvl="2"/>
            <a:r>
              <a:rPr lang="en-US" sz="1300" dirty="0" err="1"/>
              <a:t>SoftImpute</a:t>
            </a:r>
            <a:r>
              <a:rPr lang="en-US" sz="1300" dirty="0"/>
              <a:t>, </a:t>
            </a:r>
            <a:r>
              <a:rPr lang="en-US" sz="1300" dirty="0" err="1"/>
              <a:t>DynaMMo</a:t>
            </a:r>
            <a:r>
              <a:rPr lang="en-US" sz="1300" dirty="0"/>
              <a:t>, </a:t>
            </a:r>
            <a:r>
              <a:rPr lang="en-US" sz="1300" dirty="0" err="1"/>
              <a:t>SVDImpute</a:t>
            </a:r>
            <a:r>
              <a:rPr lang="en-US" sz="1300" dirty="0"/>
              <a:t> remain most stable</a:t>
            </a:r>
          </a:p>
          <a:p>
            <a:pPr lvl="1"/>
            <a:r>
              <a:rPr lang="en-US" sz="1300" dirty="0"/>
              <a:t>TKCM variants perform worst in this setting</a:t>
            </a:r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FE2E70C-6071-8A21-D664-043845B8B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65882"/>
            <a:ext cx="5829037" cy="36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64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E042-FEDE-6CE2-C141-62C240DA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Block Missing (Middle – Long Blocks)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F289-AD9C-F7AE-62CC-14451A313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300" b="1" dirty="0"/>
              <a:t>Setting: </a:t>
            </a:r>
            <a:r>
              <a:rPr lang="en-US" sz="1300" dirty="0"/>
              <a:t>Missing block of 1 month in the middle of the series and</a:t>
            </a:r>
          </a:p>
          <a:p>
            <a:pPr marL="0" indent="0">
              <a:buNone/>
            </a:pPr>
            <a:r>
              <a:rPr lang="en-US" sz="1300" dirty="0"/>
              <a:t>                    Severe information loss.</a:t>
            </a:r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Key Findings</a:t>
            </a:r>
          </a:p>
          <a:p>
            <a:pPr lvl="1"/>
            <a:r>
              <a:rPr lang="en-US" sz="1300" dirty="0"/>
              <a:t>Best-performing methods:</a:t>
            </a:r>
          </a:p>
          <a:p>
            <a:pPr lvl="2"/>
            <a:r>
              <a:rPr lang="en-US" sz="1300" dirty="0" err="1"/>
              <a:t>SoftImpute</a:t>
            </a:r>
            <a:endParaRPr lang="en-US" sz="1300" dirty="0"/>
          </a:p>
          <a:p>
            <a:pPr lvl="2"/>
            <a:r>
              <a:rPr lang="en-US" sz="1300" dirty="0"/>
              <a:t>CDRec</a:t>
            </a:r>
          </a:p>
          <a:p>
            <a:pPr lvl="2"/>
            <a:r>
              <a:rPr lang="en-US" sz="1300" dirty="0" err="1"/>
              <a:t>SVDImpute</a:t>
            </a:r>
            <a:endParaRPr lang="en-US" sz="1300" dirty="0"/>
          </a:p>
          <a:p>
            <a:r>
              <a:rPr lang="en-US" sz="1300" b="1" dirty="0"/>
              <a:t>TKCM &amp; Weighted TKCM:</a:t>
            </a:r>
          </a:p>
          <a:p>
            <a:pPr lvl="2"/>
            <a:r>
              <a:rPr lang="en-US" sz="1300" dirty="0"/>
              <a:t>performance improves after tuning (k, l)</a:t>
            </a:r>
          </a:p>
          <a:p>
            <a:pPr lvl="2"/>
            <a:r>
              <a:rPr lang="en-US" sz="1300" dirty="0"/>
              <a:t>still inferior to matrix-based methods</a:t>
            </a:r>
          </a:p>
          <a:p>
            <a:r>
              <a:rPr lang="en-US" sz="1300" b="1" dirty="0"/>
              <a:t>Worst performers:</a:t>
            </a:r>
          </a:p>
          <a:p>
            <a:pPr lvl="2"/>
            <a:r>
              <a:rPr lang="en-US" sz="1300" dirty="0"/>
              <a:t>TKCM Pro</a:t>
            </a:r>
          </a:p>
          <a:p>
            <a:pPr lvl="2"/>
            <a:r>
              <a:rPr lang="en-US" sz="1300" dirty="0"/>
              <a:t>TRMF</a:t>
            </a:r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D806AD9-2CDA-0731-6A43-DBED7236E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953" y="2140063"/>
            <a:ext cx="5869306" cy="321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5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1038-734F-425E-8D86-4B4DFF33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FB7C4-83A1-0F56-AADC-EBA77CBB6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3743"/>
            <a:ext cx="10515601" cy="46932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1300" b="1" dirty="0"/>
          </a:p>
          <a:p>
            <a:r>
              <a:rPr lang="en-US" sz="1400" b="1" dirty="0"/>
              <a:t>Method</a:t>
            </a:r>
          </a:p>
          <a:p>
            <a:pPr lvl="1"/>
            <a:r>
              <a:rPr lang="en-US" sz="1400" b="1" dirty="0"/>
              <a:t>Matrix-based and model-based methods: </a:t>
            </a:r>
            <a:r>
              <a:rPr lang="en-US" sz="1400" dirty="0"/>
              <a:t>(CDRec, </a:t>
            </a:r>
            <a:r>
              <a:rPr lang="en-US" sz="1400" dirty="0" err="1"/>
              <a:t>DynaMMo</a:t>
            </a:r>
            <a:r>
              <a:rPr lang="en-US" sz="1400" dirty="0"/>
              <a:t>, </a:t>
            </a:r>
            <a:r>
              <a:rPr lang="en-US" sz="1400" dirty="0" err="1"/>
              <a:t>SoftImpute</a:t>
            </a:r>
            <a:r>
              <a:rPr lang="en-US" sz="1400" dirty="0"/>
              <a:t>, </a:t>
            </a:r>
            <a:r>
              <a:rPr lang="en-US" sz="1400" dirty="0" err="1"/>
              <a:t>SVDImpute</a:t>
            </a:r>
            <a:r>
              <a:rPr lang="en-US" sz="1400" dirty="0"/>
              <a:t>) consistently perform best for single missing values</a:t>
            </a:r>
          </a:p>
          <a:p>
            <a:pPr lvl="1"/>
            <a:r>
              <a:rPr lang="en-US" sz="1400" b="1" dirty="0"/>
              <a:t>TKCM and Weighted TKCM</a:t>
            </a:r>
            <a:r>
              <a:rPr lang="en-US" sz="1400" dirty="0"/>
              <a:t>:</a:t>
            </a:r>
          </a:p>
          <a:p>
            <a:pPr lvl="2"/>
            <a:r>
              <a:rPr lang="en-US" sz="1400" dirty="0"/>
              <a:t>competitive in single-missing settings</a:t>
            </a:r>
          </a:p>
          <a:p>
            <a:pPr lvl="2"/>
            <a:r>
              <a:rPr lang="en-US" sz="1400" dirty="0"/>
              <a:t>performance improves significantly after parameter tuning</a:t>
            </a:r>
          </a:p>
          <a:p>
            <a:pPr lvl="1"/>
            <a:r>
              <a:rPr lang="en-US" sz="1400" b="1" dirty="0"/>
              <a:t>Baseline methods</a:t>
            </a:r>
            <a:r>
              <a:rPr lang="en-US" sz="1400" dirty="0"/>
              <a:t> (Min, Zero):</a:t>
            </a:r>
          </a:p>
          <a:p>
            <a:pPr lvl="2"/>
            <a:r>
              <a:rPr lang="en-US" sz="1400" dirty="0"/>
              <a:t>high error</a:t>
            </a:r>
          </a:p>
          <a:p>
            <a:pPr lvl="2"/>
            <a:r>
              <a:rPr lang="en-US" sz="1400" dirty="0"/>
              <a:t>unsuitable for seasonal and phase-shifted data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Block Missing Value Analysis</a:t>
            </a:r>
          </a:p>
          <a:p>
            <a:pPr lvl="1"/>
            <a:r>
              <a:rPr lang="en-US" sz="1400" b="1" dirty="0"/>
              <a:t>CDRec, </a:t>
            </a:r>
            <a:r>
              <a:rPr lang="en-US" sz="1400" b="1" dirty="0" err="1"/>
              <a:t>DynaMMo</a:t>
            </a:r>
            <a:r>
              <a:rPr lang="en-US" sz="1400" b="1" dirty="0"/>
              <a:t>, </a:t>
            </a:r>
            <a:r>
              <a:rPr lang="en-US" sz="1400" b="1" dirty="0" err="1"/>
              <a:t>SVDImpute</a:t>
            </a:r>
            <a:r>
              <a:rPr lang="en-US" sz="1400" dirty="0"/>
              <a:t>:</a:t>
            </a:r>
          </a:p>
          <a:p>
            <a:pPr lvl="2"/>
            <a:r>
              <a:rPr lang="en-US" sz="1400" dirty="0"/>
              <a:t>most reliable for long missing blocks</a:t>
            </a:r>
          </a:p>
          <a:p>
            <a:pPr lvl="2"/>
            <a:r>
              <a:rPr lang="en-US" sz="1400" dirty="0"/>
              <a:t>stable even for one-month gaps</a:t>
            </a:r>
          </a:p>
          <a:p>
            <a:pPr lvl="1"/>
            <a:r>
              <a:rPr lang="en-US" sz="1400" b="1" dirty="0"/>
              <a:t>TKCM-based methods</a:t>
            </a:r>
            <a:r>
              <a:rPr lang="en-US" sz="1400" dirty="0"/>
              <a:t>:</a:t>
            </a:r>
          </a:p>
          <a:p>
            <a:pPr lvl="2"/>
            <a:r>
              <a:rPr lang="en-US" sz="1400" dirty="0"/>
              <a:t>weaker with default parameters</a:t>
            </a:r>
          </a:p>
          <a:p>
            <a:pPr lvl="2"/>
            <a:r>
              <a:rPr lang="en-US" sz="1400" dirty="0"/>
              <a:t>improve substantially after tuning (</a:t>
            </a:r>
            <a:r>
              <a:rPr lang="en-US" sz="1400" b="1" dirty="0"/>
              <a:t>k</a:t>
            </a:r>
            <a:r>
              <a:rPr lang="en-US" sz="1400" dirty="0"/>
              <a:t>, </a:t>
            </a:r>
            <a:r>
              <a:rPr lang="en-US" sz="1400" b="1" dirty="0"/>
              <a:t>l</a:t>
            </a:r>
            <a:r>
              <a:rPr lang="en-US" sz="1400" dirty="0"/>
              <a:t>)</a:t>
            </a:r>
          </a:p>
          <a:p>
            <a:pPr lvl="1"/>
            <a:r>
              <a:rPr lang="en-US" sz="1400" b="1" dirty="0"/>
              <a:t>Performance strongly depends on</a:t>
            </a:r>
            <a:r>
              <a:rPr lang="en-US" sz="1400" dirty="0"/>
              <a:t>:</a:t>
            </a:r>
          </a:p>
          <a:p>
            <a:pPr lvl="2"/>
            <a:r>
              <a:rPr lang="en-US" sz="1400" dirty="0"/>
              <a:t>data characteristics</a:t>
            </a:r>
          </a:p>
          <a:p>
            <a:pPr lvl="2"/>
            <a:r>
              <a:rPr lang="en-US" sz="1400" dirty="0"/>
              <a:t>missingness pattern</a:t>
            </a:r>
          </a:p>
          <a:p>
            <a:pPr lvl="2"/>
            <a:r>
              <a:rPr lang="en-US" sz="1400" dirty="0"/>
              <a:t>parameter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23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123E-12F3-1408-7BDA-5CD7A69F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A21B4-CEAB-B93C-684C-D07F36A27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300" b="1" dirty="0"/>
              <a:t>Conclusion</a:t>
            </a:r>
          </a:p>
          <a:p>
            <a:pPr lvl="1"/>
            <a:r>
              <a:rPr lang="en-US" sz="1300" dirty="0"/>
              <a:t>Surveyed 56 imputation algorithms, selected &amp; benchmarked 22, identified 7 suitable for seasonal data.</a:t>
            </a:r>
          </a:p>
          <a:p>
            <a:pPr lvl="1"/>
            <a:r>
              <a:rPr lang="en-US" sz="1300" dirty="0"/>
              <a:t>Constructed a seasonality-aware benchmark</a:t>
            </a:r>
          </a:p>
          <a:p>
            <a:pPr lvl="1"/>
            <a:r>
              <a:rPr lang="en-US" altLang="en-US" sz="1300" dirty="0"/>
              <a:t>Extend the TKCM framework to better exploit seasonal and phase-shifted patterns</a:t>
            </a:r>
          </a:p>
          <a:p>
            <a:pPr lvl="1"/>
            <a:r>
              <a:rPr lang="en-US" altLang="en-US" sz="1300" dirty="0"/>
              <a:t>Analyze performance under different missingness scenarios (single vs block)</a:t>
            </a:r>
          </a:p>
          <a:p>
            <a:pPr lvl="1"/>
            <a:r>
              <a:rPr lang="en-US" sz="1300" dirty="0"/>
              <a:t>TKCM-based methods are competitive and particularly effective for single missing values.</a:t>
            </a:r>
          </a:p>
          <a:p>
            <a:pPr lvl="1"/>
            <a:r>
              <a:rPr lang="en-US" sz="1300" dirty="0"/>
              <a:t>Matrix- and Model-based methods perform best for long missing blocks in seasonal time series.</a:t>
            </a:r>
          </a:p>
          <a:p>
            <a:r>
              <a:rPr lang="en-US" sz="1300" b="1" dirty="0"/>
              <a:t>Future Work</a:t>
            </a:r>
          </a:p>
          <a:p>
            <a:pPr lvl="1"/>
            <a:r>
              <a:rPr lang="en-US" altLang="en-US" sz="1300" dirty="0"/>
              <a:t>Hybrid models combining matrix and pattern-based approaches.</a:t>
            </a:r>
          </a:p>
          <a:p>
            <a:pPr lvl="1"/>
            <a:r>
              <a:rPr lang="en-US" sz="1300" dirty="0"/>
              <a:t>Improve similarity measures: </a:t>
            </a:r>
          </a:p>
          <a:p>
            <a:pPr lvl="2"/>
            <a:r>
              <a:rPr lang="en-US" sz="1300" dirty="0"/>
              <a:t>Gaussian weighting,</a:t>
            </a:r>
          </a:p>
          <a:p>
            <a:pPr lvl="2"/>
            <a:r>
              <a:rPr lang="en-US" sz="1300" dirty="0"/>
              <a:t> Dynamic Time Warping (DTW), </a:t>
            </a:r>
          </a:p>
          <a:p>
            <a:pPr lvl="2"/>
            <a:r>
              <a:rPr lang="en-US" sz="1300" dirty="0"/>
              <a:t>Edit distance.</a:t>
            </a:r>
          </a:p>
          <a:p>
            <a:pPr lvl="1"/>
            <a:r>
              <a:rPr lang="en-US" sz="1300" dirty="0"/>
              <a:t>Integrate automatic parameter tuning directly into the TKCM framework and reduce computation cost while preserving imputation accuracy.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581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D134-DAFE-B9A0-2AA4-7B1612F8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948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4794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601</TotalTime>
  <Words>1934</Words>
  <Application>Microsoft Office PowerPoint</Application>
  <PresentationFormat>Widescreen</PresentationFormat>
  <Paragraphs>247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2013 - 2022 Theme</vt:lpstr>
      <vt:lpstr>Missing Value Imputation for  Time Series with High Seasonality</vt:lpstr>
      <vt:lpstr>Context</vt:lpstr>
      <vt:lpstr>Goal</vt:lpstr>
      <vt:lpstr>Challenges</vt:lpstr>
      <vt:lpstr>Thesis Contributions</vt:lpstr>
      <vt:lpstr>Implementations</vt:lpstr>
      <vt:lpstr>Related Work and Benchmark Motivation</vt:lpstr>
      <vt:lpstr>Selected Imputation Methods for Seasonality</vt:lpstr>
      <vt:lpstr>Extensions of TKCM Framework</vt:lpstr>
      <vt:lpstr>Experimental Setup</vt:lpstr>
      <vt:lpstr>Missingness</vt:lpstr>
      <vt:lpstr>Single Point Missing Values</vt:lpstr>
      <vt:lpstr>Block Missing Values </vt:lpstr>
      <vt:lpstr>Experimental Setup – Target &amp; Reference Selection</vt:lpstr>
      <vt:lpstr>Settings &amp; Metrics</vt:lpstr>
      <vt:lpstr>RESULTS</vt:lpstr>
      <vt:lpstr>Single Missing Value Analysis (End vs Middle)</vt:lpstr>
      <vt:lpstr>Global Single Missing Values</vt:lpstr>
      <vt:lpstr>Block Missing (End)</vt:lpstr>
      <vt:lpstr>Block Missing (Middle)</vt:lpstr>
      <vt:lpstr>Block Missing (Middle – Long Blocks)</vt:lpstr>
      <vt:lpstr>Discussion</vt:lpstr>
      <vt:lpstr>Conclusion and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Bargujar Abhishek (Student ENG 23)</dc:creator>
  <cp:lastModifiedBy>Bargujar Abhishek (Student ENG 23)</cp:lastModifiedBy>
  <cp:revision>61</cp:revision>
  <dcterms:created xsi:type="dcterms:W3CDTF">2026-02-16T09:41:51Z</dcterms:created>
  <dcterms:modified xsi:type="dcterms:W3CDTF">2026-03-08T09:41:30Z</dcterms:modified>
</cp:coreProperties>
</file>